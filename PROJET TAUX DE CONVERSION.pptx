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a6ca3770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a6ca3770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9b8a61a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9b8a61a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b8a61a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9b8a61a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9b8a61a7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9b8a61a7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9b8a61a7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9b8a61a7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9b8a61a7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9b8a61a7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9b8a61a7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9b8a61a7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c2cedc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bc2cedc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bd2dc1b4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bd2dc1b4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48950" y="269625"/>
            <a:ext cx="8246100" cy="10689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fr" sz="2752">
                <a:latin typeface="Georgia"/>
                <a:ea typeface="Georgia"/>
                <a:cs typeface="Georgia"/>
                <a:sym typeface="Georgia"/>
              </a:rPr>
              <a:t>PROJET TAUX DE CONVERSION D’ABONNEMENT A LA NEWSLETTER</a:t>
            </a:r>
            <a:endParaRPr b="1" sz="2752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5" name="Google Shape;55;p13" title="Sigle Data Science Weekl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25" y="2571762"/>
            <a:ext cx="2894175" cy="22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jedha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7700" y="2571750"/>
            <a:ext cx="2295375" cy="22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103250" y="3378400"/>
            <a:ext cx="3548100" cy="837300"/>
          </a:xfrm>
          <a:prstGeom prst="rect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Elève : Patrick GROUILLET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Session :</a:t>
            </a:r>
            <a:r>
              <a:rPr b="1" lang="fr" sz="1800">
                <a:solidFill>
                  <a:schemeClr val="dk2"/>
                </a:solidFill>
              </a:rPr>
              <a:t> DAFS-FT-17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151400" y="218850"/>
            <a:ext cx="6841200" cy="4668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fr" sz="2000"/>
              <a:t>PROBLEMATIQUE</a:t>
            </a:r>
            <a:endParaRPr b="1" sz="209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849913"/>
            <a:ext cx="8520600" cy="15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/>
              <a:t>L’équipe de DATA SCIENCE WEEKLY composée de Data Scientists a créé une newsletter qui suit l’actualité de la DATA SCIENCE et ses applications.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400"/>
              <a:t>Elle cherche à savoir s’il est possible de déterminer si un utilisateur va s’abonner en fonction d’informations recueillies telles que l’âge, la source par laquelle il a été contacté, le nombre de pages visitées et s’il a déjà été abonné.</a:t>
            </a:r>
            <a:endParaRPr sz="1400"/>
          </a:p>
        </p:txBody>
      </p:sp>
      <p:sp>
        <p:nvSpPr>
          <p:cNvPr id="64" name="Google Shape;64;p14"/>
          <p:cNvSpPr txBox="1"/>
          <p:nvPr/>
        </p:nvSpPr>
        <p:spPr>
          <a:xfrm>
            <a:off x="1391200" y="3087950"/>
            <a:ext cx="6841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1066625" y="2571825"/>
            <a:ext cx="6853800" cy="4668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fr" sz="2018"/>
              <a:t>PRESENTATION DE L’ETUDE</a:t>
            </a:r>
            <a:endParaRPr b="1" sz="2018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3165625"/>
            <a:ext cx="8520600" cy="14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/>
              <a:t>Ce projet se présente sous forme d’un défi, et à ce titre, le set de données est séparé en  fichiers : </a:t>
            </a:r>
            <a:endParaRPr sz="1400"/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fr" sz="1400"/>
              <a:t>un fichier d’entraînement avec la cible et les valeurs explicatives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 sz="1400"/>
              <a:t>un fichier test avec seulement les valeurs explicatives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400"/>
              <a:t>Pour l’évaluation des résultats, ils ont décidé d’utiliser le score F1.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3 Distribution variable ci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66476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214050" y="1616550"/>
            <a:ext cx="3429000" cy="193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solidFill>
                  <a:schemeClr val="dk2"/>
                </a:solidFill>
              </a:rPr>
              <a:t>Représentation en diagramme circulaire pour visualiser la répartition entre les “convertis” et les “non-convertis” (Les seconds sont largement majoritaires)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4 Analyse par pay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15003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34725" y="3383350"/>
            <a:ext cx="8685000" cy="1578300"/>
          </a:xfrm>
          <a:prstGeom prst="rect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2"/>
                </a:solidFill>
              </a:rPr>
              <a:t>Représentation graphique de la distribution par pays : les USA sont les plus représentés.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2"/>
                </a:solidFill>
              </a:rPr>
              <a:t>Représentation du taux de conversion par pays : l’Allemagne qui est le pays le moins représenté est aussi celui qui a le meilleur taux de conversion.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2"/>
                </a:solidFill>
              </a:rPr>
              <a:t>La Chine qui est le 2ème pays le plus représenté derrière les USA a un taux de conversion très faible de 0,13%, bien plus faible que celui des autres pays.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5 Analyse par source de traf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14777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519025" y="3485900"/>
            <a:ext cx="8098800" cy="1274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2"/>
                </a:solidFill>
              </a:rPr>
              <a:t>La source SEO (moteurs de recherche) est la plus représentée, mais le taux de conversion qu’elle présente est légèrement en retrait par rapport à la publicité (ADS).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1099200" y="3537625"/>
            <a:ext cx="6852000" cy="1268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2"/>
                </a:solidFill>
              </a:rPr>
              <a:t>On constate que les utilisateurs qui n’ont consulté que quelques pages ne s’abonnent pas. A contrario, ceux qui ont lu plus de 20 pages s’abonnent tous.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90" name="Google Shape;90;p18" title="7 Taux conversion par nb pages visité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50" y="94825"/>
            <a:ext cx="8623499" cy="32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 title="9 Taux conversion par tranche d 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36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511050" y="3877700"/>
            <a:ext cx="8121900" cy="922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2"/>
                </a:solidFill>
              </a:rPr>
              <a:t>Il ressort de ce graphique que le taux d’abonnement est élevé chez les jeunes de 17 à 20 ans, et diminue progressivement avec l’âge.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12 Comparaison modèles F1 sco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050"/>
            <a:ext cx="5095100" cy="44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5406825" y="982975"/>
            <a:ext cx="3456900" cy="3073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2"/>
                </a:solidFill>
              </a:rPr>
              <a:t>Ce graphique montre les résultats qui ressortent des différents modèles utilisés.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2"/>
                </a:solidFill>
              </a:rPr>
              <a:t>On constate que le modèle de “Gradient Boosting” est le plus performant, légèrement devant le “ADA BOOST”, ces deux-là étant bien meilleurs que les autres.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 title="13 Importance des featu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50" y="152400"/>
            <a:ext cx="8197074" cy="40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/>
          <p:nvPr/>
        </p:nvSpPr>
        <p:spPr>
          <a:xfrm>
            <a:off x="486000" y="4211725"/>
            <a:ext cx="8172000" cy="775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2"/>
                </a:solidFill>
              </a:rPr>
              <a:t>Degré d’importance des features sur l’abonnement après sélection du meilleur modèle : GRADIENT BOOSTING avec un F1 score = 0.7549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0"/>
            <a:ext cx="85206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/>
              <a:t>PRECONISAT</a:t>
            </a:r>
            <a:r>
              <a:rPr b="1" lang="fr" u="sng"/>
              <a:t>IONS</a:t>
            </a:r>
            <a:endParaRPr b="1" u="sng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549900"/>
            <a:ext cx="8520600" cy="45063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50">
                <a:solidFill>
                  <a:schemeClr val="dk1"/>
                </a:solidFill>
                <a:highlight>
                  <a:schemeClr val="lt1"/>
                </a:highlight>
              </a:rPr>
              <a:t>1. ENGAGEMENT</a:t>
            </a: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(total_pages_visited) - LEVIER PRINCIPAL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C'est la variable la plus influente : les convertis visitent en moyenne 14,6 pages contre 4,6 pour les autres.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ACTION : Améliorer la navigation du site, proposer du contenu recommandé, et placer des bulletins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d'inscription après 8-10 pages, niveau à partir duquel les conversions deviennent plus fréquentes.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50">
                <a:solidFill>
                  <a:schemeClr val="dk1"/>
                </a:solidFill>
                <a:highlight>
                  <a:schemeClr val="lt1"/>
                </a:highlight>
              </a:rPr>
              <a:t>2. FIDELISATION</a:t>
            </a: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(new_user) - LEVIER FORT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Les anciens utilisateurs convertissent 5 fois plus (7.2 % vs 1.4 %).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ACTION : Mise en place de mécanismes de ré-engagement (emails personnalisés, notifications, contenus exclusifs).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50">
                <a:solidFill>
                  <a:schemeClr val="dk1"/>
                </a:solidFill>
                <a:highlight>
                  <a:schemeClr val="lt1"/>
                </a:highlight>
              </a:rPr>
              <a:t>3. AGE</a:t>
            </a: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- ORIENTATION JEUNES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Les jeunes (17-25 ans) convertissent 2 à 3 fois plus.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ACTION : Orienter le marketing vers les jeunes professionnels et étudiants en data science.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50">
                <a:solidFill>
                  <a:schemeClr val="dk1"/>
                </a:solidFill>
                <a:highlight>
                  <a:schemeClr val="lt1"/>
                </a:highlight>
              </a:rPr>
              <a:t>4. GEOGRAPHIE</a:t>
            </a: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- PENETRATION MARCHE CHINOIS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La Chine a un taux de conversion 50 fois plus faible (0.13%).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ACTION : rechercher les raisons (barrière de la langue, contenu non adapté, concurrence locale).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Potentiel fort de progression si on parvient à s'adresser à ce marché.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50">
                <a:solidFill>
                  <a:schemeClr val="dk1"/>
                </a:solidFill>
                <a:highlight>
                  <a:schemeClr val="lt1"/>
                </a:highlight>
              </a:rPr>
              <a:t>5. SOURCE DE TRAFIC</a:t>
            </a: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- DIFFERENCES MINEURES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Ads convertit légèrement mieux que Direct.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chemeClr val="lt1"/>
                </a:highlight>
              </a:rPr>
              <a:t>   =&gt; ACTION : Optimiser les campagnes publicitaires.</a:t>
            </a:r>
            <a:endParaRPr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